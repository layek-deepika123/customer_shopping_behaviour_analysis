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Lora" pitchFamily="34" charset="0"/>
      <p:regular r:id="rId17"/>
    </p:embeddedFont>
    <p:embeddedFont>
      <p:font typeface="Lora" pitchFamily="34" charset="-122"/>
      <p:regular r:id="rId18"/>
    </p:embeddedFont>
    <p:embeddedFont>
      <p:font typeface="Lora" pitchFamily="34" charset="-120"/>
      <p:regular r:id="rId19"/>
    </p:embeddedFont>
    <p:embeddedFont>
      <p:font typeface="Source Sans 3" panose="020B0303030403020204" pitchFamily="34" charset="0"/>
      <p:regular r:id="rId20"/>
    </p:embeddedFont>
    <p:embeddedFont>
      <p:font typeface="Source Sans 3" panose="020B0303030403020204" pitchFamily="34" charset="-122"/>
      <p:regular r:id="rId21"/>
    </p:embeddedFont>
    <p:embeddedFont>
      <p:font typeface="Source Sans 3" panose="020B0303030403020204" pitchFamily="34" charset="-120"/>
      <p:regular r:id="rId22"/>
    </p:embeddedFont>
    <p:embeddedFont>
      <p:font typeface="Source Sans 3 Bold" panose="020B0303030403020204" pitchFamily="34" charset="0"/>
      <p:bold r:id="rId23"/>
    </p:embeddedFont>
    <p:embeddedFont>
      <p:font typeface="Source Sans 3 Bold" panose="020B0303030403020204" pitchFamily="34" charset="-122"/>
      <p:bold r:id="rId24"/>
    </p:embeddedFont>
    <p:embeddedFont>
      <p:font typeface="Source Sans 3 Bold" panose="020B0303030403020204" pitchFamily="34" charset="-120"/>
      <p:bold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jpe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9.sv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555477"/>
            <a:ext cx="4667845" cy="8800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659856"/>
            <a:ext cx="4667845" cy="478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End-to-end analytics on </a:t>
            </a:r>
            <a:r>
              <a:rPr lang="en-US" sz="11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3,900 transactions</a:t>
            </a: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— uncovering patterns in revenue, demographics, and purchasing behavior.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52577" y="3306887"/>
            <a:ext cx="1929557" cy="281136"/>
          </a:xfrm>
          <a:prstGeom prst="roundRect">
            <a:avLst>
              <a:gd name="adj" fmla="val 6386"/>
            </a:avLst>
          </a:prstGeom>
          <a:solidFill>
            <a:srgbClr val="E2ECDF"/>
          </a:solidFill>
        </p:spPr>
      </p:sp>
      <p:sp>
        <p:nvSpPr>
          <p:cNvPr id="6" name="Text 3"/>
          <p:cNvSpPr/>
          <p:nvPr/>
        </p:nvSpPr>
        <p:spPr>
          <a:xfrm>
            <a:off x="4042321" y="3351758"/>
            <a:ext cx="2207270" cy="1913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PYTHON · POSTGRESQL · POWER BI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12105"/>
            <a:ext cx="4667845" cy="4262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Objective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3952577" y="1048941"/>
            <a:ext cx="4667845" cy="815355"/>
          </a:xfrm>
          <a:prstGeom prst="roundRect">
            <a:avLst>
              <a:gd name="adj" fmla="val 2666"/>
            </a:avLst>
          </a:prstGeom>
          <a:solidFill>
            <a:srgbClr val="F3E7D4"/>
          </a:solidFill>
        </p:spPr>
      </p:sp>
      <p:sp>
        <p:nvSpPr>
          <p:cNvPr id="5" name="Text 2"/>
          <p:cNvSpPr/>
          <p:nvPr/>
        </p:nvSpPr>
        <p:spPr>
          <a:xfrm>
            <a:off x="4097462" y="1193825"/>
            <a:ext cx="4378077" cy="213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Trends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097462" y="1491109"/>
            <a:ext cx="4378077" cy="2283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Track spending patterns by gender, age, and season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52577" y="2004640"/>
            <a:ext cx="4667845" cy="815355"/>
          </a:xfrm>
          <a:prstGeom prst="roundRect">
            <a:avLst>
              <a:gd name="adj" fmla="val 2666"/>
            </a:avLst>
          </a:prstGeom>
          <a:solidFill>
            <a:srgbClr val="F3E7D4"/>
          </a:solidFill>
        </p:spPr>
      </p:sp>
      <p:sp>
        <p:nvSpPr>
          <p:cNvPr id="8" name="Text 5"/>
          <p:cNvSpPr/>
          <p:nvPr/>
        </p:nvSpPr>
        <p:spPr>
          <a:xfrm>
            <a:off x="4097462" y="2149525"/>
            <a:ext cx="4378077" cy="213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Insights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97462" y="2446809"/>
            <a:ext cx="4378077" cy="2283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Demographics, subscriptions &amp; loyalty behavior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52577" y="2960340"/>
            <a:ext cx="4667845" cy="815355"/>
          </a:xfrm>
          <a:prstGeom prst="roundRect">
            <a:avLst>
              <a:gd name="adj" fmla="val 2666"/>
            </a:avLst>
          </a:prstGeom>
          <a:solidFill>
            <a:srgbClr val="F3E7D4"/>
          </a:solidFill>
        </p:spPr>
      </p:sp>
      <p:sp>
        <p:nvSpPr>
          <p:cNvPr id="11" name="Text 8"/>
          <p:cNvSpPr/>
          <p:nvPr/>
        </p:nvSpPr>
        <p:spPr>
          <a:xfrm>
            <a:off x="4097462" y="3105224"/>
            <a:ext cx="4378077" cy="213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97462" y="3402509"/>
            <a:ext cx="4378077" cy="2283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Top products, ratings &amp; discount impact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52577" y="3916040"/>
            <a:ext cx="4667845" cy="815355"/>
          </a:xfrm>
          <a:prstGeom prst="roundRect">
            <a:avLst>
              <a:gd name="adj" fmla="val 2666"/>
            </a:avLst>
          </a:prstGeom>
          <a:solidFill>
            <a:srgbClr val="F3E7D4"/>
          </a:solidFill>
        </p:spPr>
      </p:sp>
      <p:sp>
        <p:nvSpPr>
          <p:cNvPr id="14" name="Text 11"/>
          <p:cNvSpPr/>
          <p:nvPr/>
        </p:nvSpPr>
        <p:spPr>
          <a:xfrm>
            <a:off x="4097462" y="4060924"/>
            <a:ext cx="4378077" cy="213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Actionable Strategy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97462" y="4358208"/>
            <a:ext cx="4378077" cy="2283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Optimize marketing, retention &amp; revenue growth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58267"/>
            <a:ext cx="8096845" cy="440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472282"/>
            <a:ext cx="2574280" cy="49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3,900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523577" y="2152948"/>
            <a:ext cx="2574280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Records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84860" y="1472282"/>
            <a:ext cx="2574280" cy="49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</a:t>
            </a:r>
            <a:endParaRPr lang="en-US" sz="3850" dirty="0"/>
          </a:p>
        </p:txBody>
      </p:sp>
      <p:sp>
        <p:nvSpPr>
          <p:cNvPr id="6" name="Text 4"/>
          <p:cNvSpPr/>
          <p:nvPr/>
        </p:nvSpPr>
        <p:spPr>
          <a:xfrm>
            <a:off x="3284860" y="2152948"/>
            <a:ext cx="2574280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Attributes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6143" y="1472282"/>
            <a:ext cx="2574280" cy="49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37</a:t>
            </a:r>
            <a:endParaRPr lang="en-US" sz="3850" dirty="0"/>
          </a:p>
        </p:txBody>
      </p:sp>
      <p:sp>
        <p:nvSpPr>
          <p:cNvPr id="8" name="Text 6"/>
          <p:cNvSpPr/>
          <p:nvPr/>
        </p:nvSpPr>
        <p:spPr>
          <a:xfrm>
            <a:off x="6046143" y="2152948"/>
            <a:ext cx="2574280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46143" y="2462659"/>
            <a:ext cx="2574280" cy="239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Review Rating column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3577" y="2926407"/>
            <a:ext cx="8096845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3577" y="3370734"/>
            <a:ext cx="8096845" cy="11144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Age, Gender, Location, Subscription Status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Item, Category, Purchase Amount, Season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Discount, Promo Code, Review Rating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Purchase Frequency, Shipping Type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0886"/>
            <a:ext cx="8096845" cy="3300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Cleaning &amp; Preprocessing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919163"/>
            <a:ext cx="8096845" cy="35517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77376" y="3576888"/>
            <a:ext cx="1223727" cy="2060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Handle Missing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977376" y="3845297"/>
            <a:ext cx="1223727" cy="3067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Impute median by category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64867" y="3576888"/>
            <a:ext cx="1223726" cy="2060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64867" y="3845297"/>
            <a:ext cx="1223726" cy="3067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Create age group and purchase freq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6479" y="1238381"/>
            <a:ext cx="1223727" cy="2060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Data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76479" y="1506790"/>
            <a:ext cx="1223727" cy="3067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Read CSV into Pandas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48389" y="1238381"/>
            <a:ext cx="1223726" cy="2060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Standardize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948389" y="1506790"/>
            <a:ext cx="1223726" cy="4601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Convert column names to snake_case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23577" y="4565526"/>
            <a:ext cx="8554045" cy="1570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Redundant </a:t>
            </a:r>
            <a:r>
              <a:rPr lang="en-US" sz="8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Promo Code Used</a:t>
            </a:r>
            <a:r>
              <a:rPr lang="en-US" sz="8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column removed. Cleaned data loaded into PostgreSQL via SQLAlchemy.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8579"/>
            <a:ext cx="8096845" cy="233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Analysis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23577" y="1091059"/>
            <a:ext cx="5195069" cy="1169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By Gender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917332" y="757833"/>
            <a:ext cx="2707779" cy="1169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By Age Group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523577" y="4627513"/>
            <a:ext cx="8554045" cy="973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Adult and young adult customers generated the </a:t>
            </a:r>
            <a:r>
              <a:rPr lang="en-US" sz="60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majority of overall revenue</a:t>
            </a:r>
            <a:r>
              <a:rPr lang="en-US" sz="6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.</a:t>
            </a:r>
            <a:endParaRPr lang="en-US" sz="600" dirty="0"/>
          </a:p>
        </p:txBody>
      </p:sp>
      <p:pic>
        <p:nvPicPr>
          <p:cNvPr id="9" name="Picture 8" descr="Screenshot 2026-07-07 1613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" y="1450975"/>
            <a:ext cx="4163695" cy="2833370"/>
          </a:xfrm>
          <a:prstGeom prst="rect">
            <a:avLst/>
          </a:prstGeom>
        </p:spPr>
      </p:pic>
      <p:pic>
        <p:nvPicPr>
          <p:cNvPr id="10" name="Picture 9" descr="Screenshot 2026-07-07 1619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905" y="1191260"/>
            <a:ext cx="4098290" cy="3448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52984"/>
            <a:ext cx="8096845" cy="440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&amp; Product Insights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3101950"/>
            <a:ext cx="2574280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Subscribers Spend More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3411662"/>
            <a:ext cx="2574280" cy="478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Higher average spend vs. non-subscribers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3284860" y="3101950"/>
            <a:ext cx="2574280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Top-Rated Products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84860" y="3411662"/>
            <a:ext cx="2574280" cy="478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Top 5 products by rating &amp; most-purchased per category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6046143" y="3101950"/>
            <a:ext cx="2574280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 Dependency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6143" y="3411662"/>
            <a:ext cx="2574280" cy="478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Certain products rely heavily on discounts to drive sales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4040"/>
            <a:ext cx="8096845" cy="4262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Segmentation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021139" y="1191220"/>
            <a:ext cx="2604046" cy="213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Three Customer Groups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1139" y="1562174"/>
            <a:ext cx="2604046" cy="9095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61274" y="1726109"/>
            <a:ext cx="2199977" cy="213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 Customers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261274" y="2079501"/>
            <a:ext cx="2199977" cy="2283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Fewer previous purchases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1139" y="2612082"/>
            <a:ext cx="2604046" cy="9095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61274" y="2776017"/>
            <a:ext cx="2199977" cy="213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Returning Customers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261274" y="3129409"/>
            <a:ext cx="2199977" cy="2283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Moderate purchase history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1139" y="3661990"/>
            <a:ext cx="2604046" cy="9095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61274" y="3825925"/>
            <a:ext cx="2199977" cy="213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 Customers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261274" y="4179317"/>
            <a:ext cx="2199977" cy="2283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Large share of total purchases</a:t>
            </a:r>
            <a:endParaRPr lang="en-US" sz="1100" dirty="0"/>
          </a:p>
        </p:txBody>
      </p:sp>
      <p:pic>
        <p:nvPicPr>
          <p:cNvPr id="14" name="Picture 13" descr="Blog-83--Customer-Segmentation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979805"/>
            <a:ext cx="4949190" cy="3806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2225"/>
            <a:ext cx="8096845" cy="3368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Dashboard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23577" y="934492"/>
            <a:ext cx="458167" cy="687214"/>
          </a:xfrm>
          <a:prstGeom prst="roundRect">
            <a:avLst>
              <a:gd name="adj" fmla="val 360019"/>
            </a:avLst>
          </a:prstGeom>
          <a:solidFill>
            <a:srgbClr val="F3E7D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750" y="1192188"/>
            <a:ext cx="171748" cy="171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9404" y="1049015"/>
            <a:ext cx="7551018" cy="1683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Overview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23577" y="1709365"/>
            <a:ext cx="458167" cy="687214"/>
          </a:xfrm>
          <a:prstGeom prst="roundRect">
            <a:avLst>
              <a:gd name="adj" fmla="val 360019"/>
            </a:avLst>
          </a:prstGeom>
          <a:solidFill>
            <a:srgbClr val="F3E7D4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" y="1967061"/>
            <a:ext cx="171748" cy="1717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9404" y="1823889"/>
            <a:ext cx="7551018" cy="1683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Demographics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23577" y="2484239"/>
            <a:ext cx="458167" cy="687214"/>
          </a:xfrm>
          <a:prstGeom prst="roundRect">
            <a:avLst>
              <a:gd name="adj" fmla="val 360019"/>
            </a:avLst>
          </a:prstGeom>
          <a:solidFill>
            <a:srgbClr val="F3E7D4"/>
          </a:solidFill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" y="2741935"/>
            <a:ext cx="171748" cy="1717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9404" y="2598762"/>
            <a:ext cx="7551018" cy="1683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Purchase Trends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23577" y="3259113"/>
            <a:ext cx="458167" cy="687214"/>
          </a:xfrm>
          <a:prstGeom prst="roundRect">
            <a:avLst>
              <a:gd name="adj" fmla="val 360019"/>
            </a:avLst>
          </a:prstGeom>
          <a:solidFill>
            <a:srgbClr val="F3E7D4"/>
          </a:solidFill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" y="3516809"/>
            <a:ext cx="171748" cy="1717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9404" y="3373636"/>
            <a:ext cx="7551018" cy="1683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Performance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23577" y="4033986"/>
            <a:ext cx="458167" cy="687214"/>
          </a:xfrm>
          <a:prstGeom prst="roundRect">
            <a:avLst>
              <a:gd name="adj" fmla="val 360019"/>
            </a:avLst>
          </a:prstGeom>
          <a:solidFill>
            <a:srgbClr val="F3E7D4"/>
          </a:solidFill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" y="4291682"/>
            <a:ext cx="171748" cy="1717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69404" y="4148510"/>
            <a:ext cx="7551018" cy="1683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Filters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1768"/>
            <a:ext cx="8096845" cy="4124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Findings &amp; Recommendations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188" y="1131503"/>
            <a:ext cx="210369" cy="2103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9363" y="1127224"/>
            <a:ext cx="7641059" cy="206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Subscriptions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79363" y="1412379"/>
            <a:ext cx="7641059" cy="2173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Exclusive discounts &amp; premium benefits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188" y="1897000"/>
            <a:ext cx="210369" cy="2103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9363" y="1892722"/>
            <a:ext cx="7641059" cy="206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Strengthen Loyalty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979363" y="2177876"/>
            <a:ext cx="7641059" cy="2173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Retain high-value repeat customers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188" y="2662498"/>
            <a:ext cx="210369" cy="2103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9363" y="2658219"/>
            <a:ext cx="7641059" cy="206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Optimize Discounts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979363" y="2943374"/>
            <a:ext cx="7641059" cy="2173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Improve profitability while maintaining engagement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188" y="3427995"/>
            <a:ext cx="210369" cy="2103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9363" y="3423717"/>
            <a:ext cx="7641059" cy="206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High-Value Segments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979363" y="3708871"/>
            <a:ext cx="7641059" cy="2173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Focus on adult &amp; young adult revenue drivers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188" y="4193493"/>
            <a:ext cx="210369" cy="21036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9363" y="4189214"/>
            <a:ext cx="7641059" cy="206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Promote Express Shipping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979363" y="4474369"/>
            <a:ext cx="7641059" cy="2173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Higher purchase values linked to faster delivery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01216"/>
            <a:ext cx="8096845" cy="440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Tools &amp; 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15157"/>
            <a:ext cx="3865959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 Stack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3577" y="2003375"/>
            <a:ext cx="3865959" cy="2170584"/>
          </a:xfrm>
          <a:prstGeom prst="roundRect">
            <a:avLst>
              <a:gd name="adj" fmla="val 103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7912" y="2102644"/>
            <a:ext cx="2086273" cy="239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Python / Pandas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06129" y="2102644"/>
            <a:ext cx="2086273" cy="239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Cleaning &amp; Preprocessing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7912" y="2535808"/>
            <a:ext cx="2086273" cy="239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SQLAlchemy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129" y="2535808"/>
            <a:ext cx="2086273" cy="239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Database Connectivity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7912" y="2968972"/>
            <a:ext cx="2086273" cy="239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06129" y="2968972"/>
            <a:ext cx="2086273" cy="239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SQL Analysis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77912" y="3402137"/>
            <a:ext cx="2086273" cy="239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129" y="3402137"/>
            <a:ext cx="2086273" cy="239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Dashboard Development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7912" y="3835301"/>
            <a:ext cx="2086273" cy="239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Git / GitHub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06129" y="3835301"/>
            <a:ext cx="2086273" cy="239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Version Control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9226" y="1615157"/>
            <a:ext cx="3865959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End-to-End Workflow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59226" y="1984697"/>
            <a:ext cx="3865959" cy="7181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From raw data to interactive insights — this project demonstrates a complete analytics pipeline supporting </a:t>
            </a:r>
            <a:r>
              <a:rPr lang="en-US" sz="1150" b="1" dirty="0">
                <a:solidFill>
                  <a:srgbClr val="3A363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data-driven business decisions</a:t>
            </a:r>
            <a:r>
              <a:rPr lang="en-US" sz="1150" dirty="0">
                <a:solidFill>
                  <a:srgbClr val="3A363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9226" y="2871118"/>
            <a:ext cx="3865959" cy="822722"/>
          </a:xfrm>
          <a:prstGeom prst="roundRect">
            <a:avLst>
              <a:gd name="adj" fmla="val 2728"/>
            </a:avLst>
          </a:prstGeom>
          <a:solidFill>
            <a:srgbClr val="E2ECDF"/>
          </a:solidFill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798" y="3089077"/>
            <a:ext cx="187003" cy="1495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245373" y="3043089"/>
            <a:ext cx="3230240" cy="478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Prepared by </a:t>
            </a:r>
            <a:r>
              <a:rPr lang="en-US" sz="1150" b="1" dirty="0">
                <a:solidFill>
                  <a:srgbClr val="000000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Deepika Layek</a:t>
            </a:r>
            <a:r>
              <a:rPr lang="en-US" sz="1150" dirty="0">
                <a:solidFill>
                  <a:srgbClr val="00000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— Data Analyst | Python | SQL | Power BI | PostgreSQL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2344</Words>
  <Application>WPS Presentation</Application>
  <PresentationFormat>On-screen Show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Lora</vt:lpstr>
      <vt:lpstr>Lora</vt:lpstr>
      <vt:lpstr>Lora</vt:lpstr>
      <vt:lpstr>Source Sans 3</vt:lpstr>
      <vt:lpstr>Source Sans 3</vt:lpstr>
      <vt:lpstr>Source Sans 3</vt:lpstr>
      <vt:lpstr>Source Sans 3 Bold</vt:lpstr>
      <vt:lpstr>Source Sans 3 Bold</vt:lpstr>
      <vt:lpstr>Source Sans 3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Deepika Layek</cp:lastModifiedBy>
  <cp:revision>3</cp:revision>
  <dcterms:created xsi:type="dcterms:W3CDTF">2026-07-07T10:24:00Z</dcterms:created>
  <dcterms:modified xsi:type="dcterms:W3CDTF">2026-07-07T12:36:25Z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20C6DA53083444A1905CC6F4B6D04273_13</vt:lpwstr>
  </property>
</Properties>
</file>